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5" r:id="rId7"/>
    <p:sldId id="261" r:id="rId8"/>
    <p:sldId id="276" r:id="rId9"/>
    <p:sldId id="262" r:id="rId10"/>
    <p:sldId id="263" r:id="rId11"/>
    <p:sldId id="264" r:id="rId12"/>
    <p:sldId id="265" r:id="rId13"/>
    <p:sldId id="267" r:id="rId14"/>
    <p:sldId id="268" r:id="rId15"/>
    <p:sldId id="269" r:id="rId16"/>
    <p:sldId id="266" r:id="rId17"/>
    <p:sldId id="270" r:id="rId18"/>
    <p:sldId id="271" r:id="rId19"/>
    <p:sldId id="272" r:id="rId20"/>
    <p:sldId id="273" r:id="rId21"/>
    <p:sldId id="274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14" y="-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 smtClean="0"/>
              <a:t>Asıl alt başlık stilini düzenlemek için tıklayın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414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151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2326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96104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4" name="İçerik Yer Tutucus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5" name="Metin Yer Tutucus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6" name="İçerik Yer Tutucus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7" name="Veri Yer Tutucusu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8" name="Altbilgi Yer Tutucusu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ayt Numarası Yer Tutucus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150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Veri Yer Tutucusu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4" name="Altbilgi Yer Tutucusu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ayt Numarası Yer Tutucus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1549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3" name="Altbilgi Yer Tutucusu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51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4874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Resim Yer Tutucus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Metin Yer Tutucus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 smtClean="0"/>
              <a:t>Asıl metin stillerini düzenle</a:t>
            </a:r>
          </a:p>
        </p:txBody>
      </p:sp>
      <p:sp>
        <p:nvSpPr>
          <p:cNvPr id="5" name="Veri Yer Tutucusu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99555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738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Dikey Metin Yer Tutucusu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0888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smtClean="0"/>
              <a:t>Asıl başlık stili için tıklatın</a:t>
            </a:r>
            <a:endParaRPr lang="en-US"/>
          </a:p>
        </p:txBody>
      </p:sp>
      <p:sp>
        <p:nvSpPr>
          <p:cNvPr id="3" name="Metin Yer Tutucus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 smtClean="0"/>
              <a:t>Asıl metin stillerini düzenle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en-US"/>
          </a:p>
        </p:txBody>
      </p:sp>
      <p:sp>
        <p:nvSpPr>
          <p:cNvPr id="4" name="Veri Yer Tutucusu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671736-8F16-4C98-8085-A5BFF557E511}" type="datetimeFigureOut">
              <a:rPr lang="en-US" smtClean="0"/>
              <a:t>5/20/2026</a:t>
            </a:fld>
            <a:endParaRPr lang="en-US"/>
          </a:p>
        </p:txBody>
      </p:sp>
      <p:sp>
        <p:nvSpPr>
          <p:cNvPr id="5" name="Altbilgi Yer Tutucusu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ayt Numarası Yer Tutucus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5B4A46-8F0B-4CD2-A116-B62CDE27BB6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89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ctrTitle"/>
          </p:nvPr>
        </p:nvSpPr>
        <p:spPr>
          <a:xfrm>
            <a:off x="1323703" y="1949677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Heart Disease Dataset </a:t>
            </a:r>
            <a:r>
              <a:rPr lang="en-US" b="1" dirty="0" err="1" smtClean="0"/>
              <a:t>Üzerinde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Clustering </a:t>
            </a:r>
            <a:r>
              <a:rPr lang="en-US" b="1" dirty="0" err="1" smtClean="0"/>
              <a:t>ve</a:t>
            </a:r>
            <a:r>
              <a:rPr lang="en-US" b="1" dirty="0" smtClean="0"/>
              <a:t> Classification </a:t>
            </a:r>
            <a:r>
              <a:rPr lang="en-US" b="1" dirty="0" err="1" smtClean="0"/>
              <a:t>Analizi</a:t>
            </a: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Madenciliği</a:t>
            </a:r>
            <a:r>
              <a:rPr lang="en-US" dirty="0" smtClean="0"/>
              <a:t> Final </a:t>
            </a:r>
            <a:r>
              <a:rPr lang="en-US" dirty="0" err="1" smtClean="0"/>
              <a:t>Projesi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Alt Başlık 2"/>
          <p:cNvSpPr>
            <a:spLocks noGrp="1"/>
          </p:cNvSpPr>
          <p:nvPr>
            <p:ph type="subTitle" idx="1"/>
          </p:nvPr>
        </p:nvSpPr>
        <p:spPr>
          <a:xfrm>
            <a:off x="1323703" y="4133261"/>
            <a:ext cx="9144000" cy="1655762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tr-TR" dirty="0" smtClean="0"/>
              <a:t>HAZIRLAYANLAR: 															MEMET ORAKCİ</a:t>
            </a:r>
          </a:p>
          <a:p>
            <a:r>
              <a:rPr lang="tr-TR" dirty="0" smtClean="0"/>
              <a:t>						AHMET ŞİMŞEK</a:t>
            </a:r>
          </a:p>
          <a:p>
            <a:r>
              <a:rPr lang="en-US" dirty="0" smtClean="0"/>
              <a:t>Bu </a:t>
            </a:r>
            <a:r>
              <a:rPr lang="en-US" dirty="0" err="1" smtClean="0"/>
              <a:t>projede</a:t>
            </a:r>
            <a:r>
              <a:rPr lang="en-US" dirty="0" smtClean="0"/>
              <a:t> Heart Disease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</a:t>
            </a:r>
            <a:r>
              <a:rPr lang="en-US" dirty="0" smtClean="0"/>
              <a:t> </a:t>
            </a:r>
            <a:r>
              <a:rPr lang="en-US" dirty="0" err="1" smtClean="0"/>
              <a:t>üzerinde</a:t>
            </a:r>
            <a:r>
              <a:rPr lang="en-US" dirty="0" smtClean="0"/>
              <a:t> clustering </a:t>
            </a:r>
            <a:r>
              <a:rPr lang="en-US" dirty="0" err="1" smtClean="0"/>
              <a:t>ve</a:t>
            </a:r>
            <a:r>
              <a:rPr lang="en-US" dirty="0" smtClean="0"/>
              <a:t> classification </a:t>
            </a:r>
            <a:r>
              <a:rPr lang="en-US" dirty="0" err="1" smtClean="0"/>
              <a:t>yöntemleri</a:t>
            </a:r>
            <a:r>
              <a:rPr lang="en-US" dirty="0" smtClean="0"/>
              <a:t> </a:t>
            </a:r>
            <a:r>
              <a:rPr lang="en-US" dirty="0" err="1" smtClean="0"/>
              <a:t>uygulanmıştır</a:t>
            </a:r>
            <a:r>
              <a:rPr lang="en-US" dirty="0" smtClean="0"/>
              <a:t>. </a:t>
            </a:r>
            <a:r>
              <a:rPr lang="en-US" dirty="0" err="1" smtClean="0"/>
              <a:t>Analizler</a:t>
            </a:r>
            <a:r>
              <a:rPr lang="en-US" dirty="0" smtClean="0"/>
              <a:t> WEKA </a:t>
            </a:r>
            <a:r>
              <a:rPr lang="en-US" dirty="0" err="1" smtClean="0"/>
              <a:t>programı</a:t>
            </a:r>
            <a:r>
              <a:rPr lang="en-US" dirty="0" smtClean="0"/>
              <a:t> </a:t>
            </a:r>
            <a:r>
              <a:rPr lang="en-US" dirty="0" err="1" smtClean="0"/>
              <a:t>kullanılarak</a:t>
            </a:r>
            <a:r>
              <a:rPr lang="en-US" dirty="0" smtClean="0"/>
              <a:t> </a:t>
            </a:r>
            <a:r>
              <a:rPr lang="en-US" dirty="0" err="1" smtClean="0"/>
              <a:t>gerçekleştirilmiştir</a:t>
            </a:r>
            <a:r>
              <a:rPr lang="en-US" dirty="0" smtClean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4956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Projenin</a:t>
            </a:r>
            <a:r>
              <a:rPr lang="en-US" dirty="0" smtClean="0"/>
              <a:t> </a:t>
            </a:r>
            <a:r>
              <a:rPr lang="en-US" dirty="0" err="1" smtClean="0"/>
              <a:t>Amacı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Bu </a:t>
            </a:r>
            <a:r>
              <a:rPr lang="en-US" dirty="0" err="1" smtClean="0"/>
              <a:t>çalışmanın</a:t>
            </a:r>
            <a:r>
              <a:rPr lang="en-US" dirty="0" smtClean="0"/>
              <a:t> </a:t>
            </a:r>
            <a:r>
              <a:rPr lang="en-US" dirty="0" err="1" smtClean="0"/>
              <a:t>amacı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içerisindeki</a:t>
            </a:r>
            <a:r>
              <a:rPr lang="en-US" dirty="0" smtClean="0"/>
              <a:t> </a:t>
            </a:r>
            <a:r>
              <a:rPr lang="en-US" dirty="0" err="1" smtClean="0"/>
              <a:t>örüntüleri</a:t>
            </a:r>
            <a:r>
              <a:rPr lang="en-US" dirty="0" smtClean="0"/>
              <a:t> </a:t>
            </a:r>
            <a:r>
              <a:rPr lang="en-US" dirty="0" err="1" smtClean="0"/>
              <a:t>keşfetmek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setini</a:t>
            </a:r>
            <a:r>
              <a:rPr lang="en-US" dirty="0" smtClean="0"/>
              <a:t> </a:t>
            </a:r>
            <a:r>
              <a:rPr lang="en-US" dirty="0" err="1" smtClean="0"/>
              <a:t>kümelere</a:t>
            </a:r>
            <a:r>
              <a:rPr lang="en-US" dirty="0" smtClean="0"/>
              <a:t> </a:t>
            </a:r>
            <a:r>
              <a:rPr lang="en-US" dirty="0" err="1" smtClean="0"/>
              <a:t>ayırmak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Hastalık</a:t>
            </a:r>
            <a:r>
              <a:rPr lang="en-US" dirty="0" smtClean="0"/>
              <a:t> </a:t>
            </a:r>
            <a:r>
              <a:rPr lang="en-US" dirty="0" err="1" smtClean="0"/>
              <a:t>tahmini</a:t>
            </a:r>
            <a:r>
              <a:rPr lang="en-US" dirty="0" smtClean="0"/>
              <a:t> </a:t>
            </a:r>
            <a:r>
              <a:rPr lang="en-US" dirty="0" err="1" smtClean="0"/>
              <a:t>yapmak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 err="1" smtClean="0"/>
              <a:t>algoritmaların</a:t>
            </a:r>
            <a:r>
              <a:rPr lang="en-US" dirty="0" smtClean="0"/>
              <a:t> </a:t>
            </a:r>
            <a:r>
              <a:rPr lang="en-US" dirty="0" err="1" smtClean="0"/>
              <a:t>performanslarını</a:t>
            </a:r>
            <a:r>
              <a:rPr lang="en-US" dirty="0" smtClean="0"/>
              <a:t> </a:t>
            </a:r>
            <a:r>
              <a:rPr lang="en-US" dirty="0" err="1" smtClean="0"/>
              <a:t>karşılaştırmaktır</a:t>
            </a:r>
            <a:endParaRPr lang="en-US" dirty="0" smtClean="0"/>
          </a:p>
          <a:p>
            <a:r>
              <a:rPr lang="en-US" dirty="0" smtClean="0"/>
              <a:t>Bu </a:t>
            </a:r>
            <a:r>
              <a:rPr lang="en-US" dirty="0" err="1" smtClean="0"/>
              <a:t>çalışmada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madenciliği</a:t>
            </a:r>
            <a:r>
              <a:rPr lang="en-US" dirty="0" smtClean="0"/>
              <a:t> </a:t>
            </a:r>
            <a:r>
              <a:rPr lang="en-US" dirty="0" err="1" smtClean="0"/>
              <a:t>yöntemleri</a:t>
            </a:r>
            <a:r>
              <a:rPr lang="en-US" dirty="0" smtClean="0"/>
              <a:t> </a:t>
            </a:r>
            <a:r>
              <a:rPr lang="en-US" dirty="0" err="1" smtClean="0"/>
              <a:t>kullanılarak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içerisindeki</a:t>
            </a:r>
            <a:r>
              <a:rPr lang="en-US" dirty="0" smtClean="0"/>
              <a:t> </a:t>
            </a:r>
            <a:r>
              <a:rPr lang="en-US" dirty="0" err="1" smtClean="0"/>
              <a:t>yapılar</a:t>
            </a:r>
            <a:r>
              <a:rPr lang="en-US" dirty="0" smtClean="0"/>
              <a:t> </a:t>
            </a:r>
            <a:r>
              <a:rPr lang="en-US" dirty="0" err="1" smtClean="0"/>
              <a:t>analiz</a:t>
            </a:r>
            <a:r>
              <a:rPr lang="en-US" dirty="0" smtClean="0"/>
              <a:t> </a:t>
            </a:r>
            <a:r>
              <a:rPr lang="en-US" dirty="0" err="1" smtClean="0"/>
              <a:t>edilmiştir</a:t>
            </a:r>
            <a:r>
              <a:rPr lang="en-US" dirty="0" smtClean="0"/>
              <a:t>. </a:t>
            </a:r>
            <a:r>
              <a:rPr lang="en-US" dirty="0" err="1" smtClean="0"/>
              <a:t>Ayrıca</a:t>
            </a:r>
            <a:r>
              <a:rPr lang="en-US" dirty="0" smtClean="0"/>
              <a:t> </a:t>
            </a:r>
            <a:r>
              <a:rPr lang="en-US" dirty="0" err="1" smtClean="0"/>
              <a:t>farklı</a:t>
            </a:r>
            <a:r>
              <a:rPr lang="en-US" dirty="0" smtClean="0"/>
              <a:t> classification </a:t>
            </a:r>
            <a:r>
              <a:rPr lang="en-US" dirty="0" err="1" smtClean="0"/>
              <a:t>algoritmaları</a:t>
            </a:r>
            <a:r>
              <a:rPr lang="en-US" dirty="0" smtClean="0"/>
              <a:t> </a:t>
            </a:r>
            <a:r>
              <a:rPr lang="en-US" dirty="0" err="1" smtClean="0"/>
              <a:t>karşılaştırılarak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başarılı</a:t>
            </a:r>
            <a:r>
              <a:rPr lang="en-US" dirty="0" smtClean="0"/>
              <a:t> model </a:t>
            </a:r>
            <a:r>
              <a:rPr lang="en-US" dirty="0" err="1" smtClean="0"/>
              <a:t>belirlenmiştir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474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DATASET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b="1" dirty="0" err="1" smtClean="0"/>
              <a:t>Veri</a:t>
            </a:r>
            <a:r>
              <a:rPr lang="en-US" b="1" dirty="0" smtClean="0"/>
              <a:t> </a:t>
            </a:r>
            <a:r>
              <a:rPr lang="en-US" b="1" dirty="0" err="1" smtClean="0"/>
              <a:t>Seti</a:t>
            </a:r>
            <a:endParaRPr lang="en-US" b="1" dirty="0" smtClean="0"/>
          </a:p>
          <a:p>
            <a:r>
              <a:rPr lang="en-US" dirty="0" err="1" smtClean="0"/>
              <a:t>Kullanılan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</a:t>
            </a:r>
            <a:r>
              <a:rPr lang="en-US" dirty="0" smtClean="0"/>
              <a:t>:</a:t>
            </a:r>
          </a:p>
          <a:p>
            <a:r>
              <a:rPr lang="en-US" dirty="0" smtClean="0"/>
              <a:t>Heart Disease Dataset </a:t>
            </a:r>
          </a:p>
          <a:p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</a:t>
            </a:r>
            <a:r>
              <a:rPr lang="en-US" dirty="0" smtClean="0"/>
              <a:t> </a:t>
            </a:r>
            <a:r>
              <a:rPr lang="en-US" dirty="0" err="1" smtClean="0"/>
              <a:t>özellikleri</a:t>
            </a:r>
            <a:r>
              <a:rPr lang="en-US" dirty="0" smtClean="0"/>
              <a:t>:</a:t>
            </a:r>
          </a:p>
          <a:p>
            <a:r>
              <a:rPr lang="en-US" dirty="0" smtClean="0"/>
              <a:t>1025 </a:t>
            </a:r>
            <a:r>
              <a:rPr lang="en-US" dirty="0" err="1" smtClean="0"/>
              <a:t>kayıt</a:t>
            </a:r>
            <a:r>
              <a:rPr lang="en-US" dirty="0" smtClean="0"/>
              <a:t> </a:t>
            </a:r>
          </a:p>
          <a:p>
            <a:r>
              <a:rPr lang="en-US" dirty="0" smtClean="0"/>
              <a:t>14 </a:t>
            </a:r>
            <a:r>
              <a:rPr lang="en-US" dirty="0" err="1" smtClean="0"/>
              <a:t>özellik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Sağlık</a:t>
            </a:r>
            <a:r>
              <a:rPr lang="en-US" dirty="0" smtClean="0"/>
              <a:t> </a:t>
            </a:r>
            <a:r>
              <a:rPr lang="en-US" dirty="0" err="1" smtClean="0"/>
              <a:t>verileri</a:t>
            </a:r>
            <a:r>
              <a:rPr lang="en-US" dirty="0" smtClean="0"/>
              <a:t> </a:t>
            </a:r>
            <a:r>
              <a:rPr lang="en-US" dirty="0" err="1" smtClean="0"/>
              <a:t>içermektedir</a:t>
            </a:r>
            <a:r>
              <a:rPr lang="en-US" dirty="0" smtClean="0"/>
              <a:t> </a:t>
            </a:r>
          </a:p>
          <a:p>
            <a:r>
              <a:rPr lang="en-US" dirty="0" smtClean="0"/>
              <a:t>Target:</a:t>
            </a:r>
          </a:p>
          <a:p>
            <a:r>
              <a:rPr lang="en-US" dirty="0" smtClean="0"/>
              <a:t>0 → </a:t>
            </a:r>
            <a:r>
              <a:rPr lang="en-US" dirty="0" err="1" smtClean="0"/>
              <a:t>Hastalık</a:t>
            </a:r>
            <a:r>
              <a:rPr lang="en-US" dirty="0" smtClean="0"/>
              <a:t> yok </a:t>
            </a:r>
          </a:p>
          <a:p>
            <a:r>
              <a:rPr lang="en-US" dirty="0" smtClean="0"/>
              <a:t>1 → </a:t>
            </a:r>
            <a:r>
              <a:rPr lang="en-US" dirty="0" err="1" smtClean="0"/>
              <a:t>Hastalık</a:t>
            </a:r>
            <a:r>
              <a:rPr lang="en-US" dirty="0" smtClean="0"/>
              <a:t> </a:t>
            </a:r>
            <a:r>
              <a:rPr lang="en-US" dirty="0" err="1" smtClean="0"/>
              <a:t>var</a:t>
            </a:r>
            <a:endParaRPr lang="en-US" dirty="0" smtClean="0"/>
          </a:p>
          <a:p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setinde</a:t>
            </a:r>
            <a:r>
              <a:rPr lang="en-US" dirty="0" smtClean="0"/>
              <a:t> </a:t>
            </a:r>
            <a:r>
              <a:rPr lang="en-US" dirty="0" err="1" smtClean="0"/>
              <a:t>yaş</a:t>
            </a:r>
            <a:r>
              <a:rPr lang="en-US" dirty="0" smtClean="0"/>
              <a:t>, </a:t>
            </a:r>
            <a:r>
              <a:rPr lang="en-US" dirty="0" err="1" smtClean="0"/>
              <a:t>tansiyon</a:t>
            </a:r>
            <a:r>
              <a:rPr lang="en-US" dirty="0" smtClean="0"/>
              <a:t>, </a:t>
            </a:r>
            <a:r>
              <a:rPr lang="en-US" dirty="0" err="1" smtClean="0"/>
              <a:t>kolesterol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kalp</a:t>
            </a:r>
            <a:r>
              <a:rPr lang="en-US" dirty="0" smtClean="0"/>
              <a:t> </a:t>
            </a:r>
            <a:r>
              <a:rPr lang="en-US" dirty="0" err="1" smtClean="0"/>
              <a:t>ritmi</a:t>
            </a:r>
            <a:r>
              <a:rPr lang="en-US" dirty="0" smtClean="0"/>
              <a:t> </a:t>
            </a:r>
            <a:r>
              <a:rPr lang="en-US" dirty="0" err="1" smtClean="0"/>
              <a:t>gibi</a:t>
            </a:r>
            <a:r>
              <a:rPr lang="en-US" dirty="0" smtClean="0"/>
              <a:t> </a:t>
            </a:r>
            <a:r>
              <a:rPr lang="en-US" dirty="0" err="1" smtClean="0"/>
              <a:t>sağlık</a:t>
            </a:r>
            <a:r>
              <a:rPr lang="en-US" dirty="0" smtClean="0"/>
              <a:t> </a:t>
            </a:r>
            <a:r>
              <a:rPr lang="en-US" dirty="0" err="1" smtClean="0"/>
              <a:t>verileri</a:t>
            </a:r>
            <a:r>
              <a:rPr lang="en-US" dirty="0" smtClean="0"/>
              <a:t> </a:t>
            </a:r>
            <a:r>
              <a:rPr lang="en-US" dirty="0" err="1" smtClean="0"/>
              <a:t>bulunmaktadır</a:t>
            </a:r>
            <a:r>
              <a:rPr lang="en-US" dirty="0" smtClean="0"/>
              <a:t>. </a:t>
            </a:r>
            <a:r>
              <a:rPr lang="en-US" dirty="0" err="1" smtClean="0"/>
              <a:t>Amaç</a:t>
            </a:r>
            <a:r>
              <a:rPr lang="en-US" dirty="0" smtClean="0"/>
              <a:t> </a:t>
            </a:r>
            <a:r>
              <a:rPr lang="en-US" dirty="0" err="1" smtClean="0"/>
              <a:t>bireyin</a:t>
            </a:r>
            <a:r>
              <a:rPr lang="en-US" dirty="0" smtClean="0"/>
              <a:t> </a:t>
            </a:r>
            <a:r>
              <a:rPr lang="en-US" dirty="0" err="1" smtClean="0"/>
              <a:t>kalp</a:t>
            </a:r>
            <a:r>
              <a:rPr lang="en-US" dirty="0" smtClean="0"/>
              <a:t> </a:t>
            </a:r>
            <a:r>
              <a:rPr lang="en-US" dirty="0" err="1" smtClean="0"/>
              <a:t>hastalığı</a:t>
            </a:r>
            <a:r>
              <a:rPr lang="en-US" dirty="0" smtClean="0"/>
              <a:t> </a:t>
            </a:r>
            <a:r>
              <a:rPr lang="en-US" dirty="0" err="1" smtClean="0"/>
              <a:t>taşıyıp</a:t>
            </a:r>
            <a:r>
              <a:rPr lang="en-US" dirty="0" smtClean="0"/>
              <a:t> </a:t>
            </a:r>
            <a:r>
              <a:rPr lang="en-US" dirty="0" err="1" smtClean="0"/>
              <a:t>taşımadığını</a:t>
            </a:r>
            <a:r>
              <a:rPr lang="en-US" dirty="0" smtClean="0"/>
              <a:t> </a:t>
            </a:r>
            <a:r>
              <a:rPr lang="en-US" dirty="0" err="1" smtClean="0"/>
              <a:t>tahmin</a:t>
            </a:r>
            <a:r>
              <a:rPr lang="en-US" dirty="0" smtClean="0"/>
              <a:t> </a:t>
            </a:r>
            <a:r>
              <a:rPr lang="en-US" dirty="0" err="1" smtClean="0"/>
              <a:t>etmektir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71226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ATTRIBUTE AÇIKLAMALARI</a:t>
            </a:r>
            <a:endParaRPr lang="en-US" dirty="0"/>
          </a:p>
        </p:txBody>
      </p:sp>
      <p:graphicFrame>
        <p:nvGraphicFramePr>
          <p:cNvPr id="6" name="İçerik Yer Tutucusu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33414431"/>
              </p:ext>
            </p:extLst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469168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7779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Özellik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Açıklama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35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Yaş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34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sex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Cinsiyet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1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Göğüs ağrısı tipi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66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trestbps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Dinlenme tansiyonu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64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chol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Kolesterol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60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thalach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Maksimum kalp ritmi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51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exang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Egzersiz kaynaklı ağrı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dirty="0" smtClean="0"/>
                        <a:t>target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Hastalık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durumu</a:t>
                      </a:r>
                      <a:endParaRPr lang="tr-TR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4770"/>
                  </a:ext>
                </a:extLst>
              </a:tr>
            </a:tbl>
          </a:graphicData>
        </a:graphic>
      </p:graphicFrame>
      <p:graphicFrame>
        <p:nvGraphicFramePr>
          <p:cNvPr id="7" name="İçerik Yer Tutucus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879855717"/>
              </p:ext>
            </p:extLst>
          </p:nvPr>
        </p:nvGraphicFramePr>
        <p:xfrm>
          <a:off x="838200" y="1819797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469168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7779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tr-TR" dirty="0" err="1" smtClean="0"/>
                        <a:t>Veriseti</a:t>
                      </a:r>
                      <a:r>
                        <a:rPr lang="tr-TR" baseline="0" dirty="0" smtClean="0"/>
                        <a:t> Açıklamaları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35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34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1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66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64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60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51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4770"/>
                  </a:ext>
                </a:extLst>
              </a:tr>
            </a:tbl>
          </a:graphicData>
        </a:graphic>
      </p:graphicFrame>
      <p:graphicFrame>
        <p:nvGraphicFramePr>
          <p:cNvPr id="8" name="İçerik Yer Tutucusu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94640355"/>
              </p:ext>
            </p:extLst>
          </p:nvPr>
        </p:nvGraphicFramePr>
        <p:xfrm>
          <a:off x="768532" y="2647111"/>
          <a:ext cx="10515600" cy="438912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746916856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27779387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67357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20341755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21092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7669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6646556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6605150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36517641"/>
                  </a:ext>
                </a:extLst>
              </a:tr>
              <a:tr h="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70444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 smtClean="0"/>
                        <a:t>Veri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setinde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bireylerin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sağlık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bilgileri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bulunmaktadır</a:t>
                      </a:r>
                      <a:r>
                        <a:rPr lang="en-US" dirty="0" smtClean="0"/>
                        <a:t>.</a:t>
                      </a:r>
                      <a:r>
                        <a:rPr lang="tr-TR" baseline="0" dirty="0" smtClean="0"/>
                        <a:t> </a:t>
                      </a:r>
                      <a:r>
                        <a:rPr lang="en-US" dirty="0" err="1" smtClean="0"/>
                        <a:t>Özellikle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kolesterol</a:t>
                      </a:r>
                      <a:r>
                        <a:rPr lang="en-US" dirty="0" smtClean="0"/>
                        <a:t>, </a:t>
                      </a:r>
                      <a:r>
                        <a:rPr lang="en-US" dirty="0" err="1" smtClean="0"/>
                        <a:t>tansiyon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ve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kalp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ritmi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gibi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değişkenlerin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hastalık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tahmini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açısından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önemli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olduğu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düşünülmektedir</a:t>
                      </a:r>
                      <a:r>
                        <a:rPr lang="en-US" dirty="0" smtClean="0"/>
                        <a:t>.</a:t>
                      </a:r>
                    </a:p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99747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6223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PREPROCESSING</a:t>
            </a:r>
            <a:r>
              <a:rPr lang="tr-TR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Ön</a:t>
            </a:r>
            <a:r>
              <a:rPr lang="en-US" dirty="0" smtClean="0"/>
              <a:t> </a:t>
            </a:r>
            <a:r>
              <a:rPr lang="en-US" dirty="0" err="1" smtClean="0"/>
              <a:t>İşleme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Uygulanan</a:t>
            </a:r>
            <a:r>
              <a:rPr lang="en-US" dirty="0" smtClean="0"/>
              <a:t> </a:t>
            </a:r>
            <a:r>
              <a:rPr lang="en-US" dirty="0" err="1" smtClean="0"/>
              <a:t>işlemler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NumericToNominal</a:t>
            </a:r>
            <a:r>
              <a:rPr lang="en-US" dirty="0" smtClean="0"/>
              <a:t> </a:t>
            </a:r>
          </a:p>
          <a:p>
            <a:r>
              <a:rPr lang="en-US" dirty="0" smtClean="0"/>
              <a:t>Normalize </a:t>
            </a:r>
          </a:p>
          <a:p>
            <a:r>
              <a:rPr lang="en-US" dirty="0" err="1" smtClean="0"/>
              <a:t>Yapılan</a:t>
            </a:r>
            <a:r>
              <a:rPr lang="en-US" dirty="0" smtClean="0"/>
              <a:t> </a:t>
            </a:r>
            <a:r>
              <a:rPr lang="en-US" dirty="0" err="1" smtClean="0"/>
              <a:t>işlemler</a:t>
            </a:r>
            <a:r>
              <a:rPr lang="en-US" dirty="0" smtClean="0"/>
              <a:t>:</a:t>
            </a:r>
          </a:p>
          <a:p>
            <a:r>
              <a:rPr lang="en-US" dirty="0" smtClean="0"/>
              <a:t>Target attribute nominal hale </a:t>
            </a:r>
            <a:r>
              <a:rPr lang="en-US" dirty="0" err="1" smtClean="0"/>
              <a:t>getirildi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Veriler</a:t>
            </a:r>
            <a:r>
              <a:rPr lang="en-US" dirty="0" smtClean="0"/>
              <a:t> normalize </a:t>
            </a:r>
            <a:r>
              <a:rPr lang="en-US" dirty="0" err="1" smtClean="0"/>
              <a:t>edildi</a:t>
            </a:r>
            <a:endParaRPr lang="en-US" dirty="0" smtClean="0"/>
          </a:p>
          <a:p>
            <a:r>
              <a:rPr lang="en-US" dirty="0" smtClean="0"/>
              <a:t>J48 </a:t>
            </a:r>
            <a:r>
              <a:rPr lang="en-US" dirty="0" err="1" smtClean="0"/>
              <a:t>algoritmasının</a:t>
            </a:r>
            <a:r>
              <a:rPr lang="en-US" dirty="0" smtClean="0"/>
              <a:t> </a:t>
            </a:r>
            <a:r>
              <a:rPr lang="en-US" dirty="0" err="1" smtClean="0"/>
              <a:t>doğru</a:t>
            </a:r>
            <a:r>
              <a:rPr lang="en-US" dirty="0" smtClean="0"/>
              <a:t> </a:t>
            </a:r>
            <a:r>
              <a:rPr lang="en-US" dirty="0" err="1" smtClean="0"/>
              <a:t>çalışabilmesi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target </a:t>
            </a:r>
            <a:r>
              <a:rPr lang="en-US" dirty="0" err="1" smtClean="0"/>
              <a:t>değişkeni</a:t>
            </a:r>
            <a:r>
              <a:rPr lang="en-US" dirty="0" smtClean="0"/>
              <a:t> nominal </a:t>
            </a:r>
            <a:r>
              <a:rPr lang="en-US" dirty="0" err="1" smtClean="0"/>
              <a:t>tipe</a:t>
            </a:r>
            <a:r>
              <a:rPr lang="en-US" dirty="0" smtClean="0"/>
              <a:t> </a:t>
            </a:r>
            <a:r>
              <a:rPr lang="en-US" dirty="0" err="1" smtClean="0"/>
              <a:t>dönüştürülmüştür</a:t>
            </a:r>
            <a:r>
              <a:rPr lang="en-US" dirty="0" smtClean="0"/>
              <a:t>. </a:t>
            </a:r>
            <a:r>
              <a:rPr lang="en-US" dirty="0" err="1" smtClean="0"/>
              <a:t>Ayrıca</a:t>
            </a:r>
            <a:r>
              <a:rPr lang="en-US" dirty="0" smtClean="0"/>
              <a:t> </a:t>
            </a:r>
            <a:r>
              <a:rPr lang="en-US" dirty="0" err="1" smtClean="0"/>
              <a:t>KMeans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IBk</a:t>
            </a:r>
            <a:r>
              <a:rPr lang="en-US" dirty="0" smtClean="0"/>
              <a:t> </a:t>
            </a:r>
            <a:r>
              <a:rPr lang="en-US" dirty="0" err="1" smtClean="0"/>
              <a:t>gibi</a:t>
            </a:r>
            <a:r>
              <a:rPr lang="en-US" dirty="0" smtClean="0"/>
              <a:t> distance-based </a:t>
            </a:r>
            <a:r>
              <a:rPr lang="en-US" dirty="0" err="1" smtClean="0"/>
              <a:t>algoritmaların</a:t>
            </a:r>
            <a:r>
              <a:rPr lang="en-US" dirty="0" smtClean="0"/>
              <a:t> </a:t>
            </a:r>
            <a:r>
              <a:rPr lang="en-US" dirty="0" err="1" smtClean="0"/>
              <a:t>sağlıklı</a:t>
            </a:r>
            <a:r>
              <a:rPr lang="en-US" dirty="0" smtClean="0"/>
              <a:t> </a:t>
            </a:r>
            <a:r>
              <a:rPr lang="en-US" dirty="0" err="1" smtClean="0"/>
              <a:t>çalışabilmesi</a:t>
            </a:r>
            <a:r>
              <a:rPr lang="en-US" dirty="0" smtClean="0"/>
              <a:t> </a:t>
            </a:r>
            <a:r>
              <a:rPr lang="en-US" dirty="0" err="1" smtClean="0"/>
              <a:t>için</a:t>
            </a:r>
            <a:r>
              <a:rPr lang="en-US" dirty="0" smtClean="0"/>
              <a:t> normalization </a:t>
            </a:r>
            <a:r>
              <a:rPr lang="en-US" dirty="0" err="1" smtClean="0"/>
              <a:t>uygulanmıştır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9872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494" y="1825625"/>
            <a:ext cx="8127012" cy="4351338"/>
          </a:xfrm>
        </p:spPr>
      </p:pic>
    </p:spTree>
    <p:extLst>
      <p:ext uri="{BB962C8B-B14F-4D97-AF65-F5344CB8AC3E}">
        <p14:creationId xmlns:p14="http://schemas.microsoft.com/office/powerpoint/2010/main" val="16101115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K-Means Clustering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 err="1" smtClean="0"/>
              <a:t>Kullanılan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SimpleKMeans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Parametreler</a:t>
            </a:r>
            <a:r>
              <a:rPr lang="en-US" dirty="0" smtClean="0"/>
              <a:t>:</a:t>
            </a:r>
          </a:p>
          <a:p>
            <a:r>
              <a:rPr lang="en-US" dirty="0" smtClean="0"/>
              <a:t>K = 3 </a:t>
            </a:r>
          </a:p>
          <a:p>
            <a:r>
              <a:rPr lang="en-US" dirty="0" smtClean="0"/>
              <a:t>Euclidean Distance </a:t>
            </a:r>
          </a:p>
          <a:p>
            <a:r>
              <a:rPr lang="en-US" dirty="0" smtClean="0"/>
              <a:t>Seed = 10 </a:t>
            </a:r>
          </a:p>
          <a:p>
            <a:r>
              <a:rPr lang="en-US" dirty="0" err="1" smtClean="0"/>
              <a:t>Önemli</a:t>
            </a:r>
            <a:r>
              <a:rPr lang="en-US" dirty="0" smtClean="0"/>
              <a:t> Not:</a:t>
            </a:r>
          </a:p>
          <a:p>
            <a:r>
              <a:rPr lang="en-US" dirty="0" smtClean="0"/>
              <a:t>Target </a:t>
            </a:r>
            <a:r>
              <a:rPr lang="en-US" dirty="0" err="1" smtClean="0"/>
              <a:t>değişkeni</a:t>
            </a:r>
            <a:r>
              <a:rPr lang="en-US" dirty="0" smtClean="0"/>
              <a:t> clustering </a:t>
            </a:r>
            <a:r>
              <a:rPr lang="en-US" dirty="0" err="1" smtClean="0"/>
              <a:t>işlemine</a:t>
            </a:r>
            <a:r>
              <a:rPr lang="en-US" dirty="0" smtClean="0"/>
              <a:t> </a:t>
            </a:r>
            <a:r>
              <a:rPr lang="en-US" dirty="0" err="1" smtClean="0"/>
              <a:t>dahil</a:t>
            </a:r>
            <a:r>
              <a:rPr lang="en-US" dirty="0" smtClean="0"/>
              <a:t> </a:t>
            </a:r>
            <a:r>
              <a:rPr lang="en-US" dirty="0" err="1" smtClean="0"/>
              <a:t>edilmemiştir</a:t>
            </a:r>
            <a:endParaRPr lang="en-US" dirty="0" smtClean="0"/>
          </a:p>
          <a:p>
            <a:r>
              <a:rPr lang="en-US" dirty="0" smtClean="0"/>
              <a:t>Clustering </a:t>
            </a:r>
            <a:r>
              <a:rPr lang="en-US" dirty="0" err="1" smtClean="0"/>
              <a:t>aşamasında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</a:t>
            </a:r>
            <a:r>
              <a:rPr lang="en-US" dirty="0" smtClean="0"/>
              <a:t> 3 </a:t>
            </a:r>
            <a:r>
              <a:rPr lang="en-US" dirty="0" err="1" smtClean="0"/>
              <a:t>kümeye</a:t>
            </a:r>
            <a:r>
              <a:rPr lang="en-US" dirty="0" smtClean="0"/>
              <a:t> </a:t>
            </a:r>
            <a:r>
              <a:rPr lang="en-US" dirty="0" err="1" smtClean="0"/>
              <a:t>ayrılmıştır</a:t>
            </a:r>
            <a:r>
              <a:rPr lang="en-US" dirty="0" smtClean="0"/>
              <a:t>. Target </a:t>
            </a:r>
            <a:r>
              <a:rPr lang="en-US" dirty="0" err="1" smtClean="0"/>
              <a:t>değişkeni</a:t>
            </a:r>
            <a:r>
              <a:rPr lang="en-US" dirty="0" smtClean="0"/>
              <a:t> clustering </a:t>
            </a:r>
            <a:r>
              <a:rPr lang="en-US" dirty="0" err="1" smtClean="0"/>
              <a:t>işlemine</a:t>
            </a:r>
            <a:r>
              <a:rPr lang="en-US" dirty="0" smtClean="0"/>
              <a:t> </a:t>
            </a:r>
            <a:r>
              <a:rPr lang="en-US" dirty="0" err="1" smtClean="0"/>
              <a:t>dahil</a:t>
            </a:r>
            <a:r>
              <a:rPr lang="en-US" dirty="0" smtClean="0"/>
              <a:t> </a:t>
            </a:r>
            <a:r>
              <a:rPr lang="en-US" dirty="0" err="1" smtClean="0"/>
              <a:t>edilmemiştir</a:t>
            </a:r>
            <a:r>
              <a:rPr lang="en-US" dirty="0" smtClean="0"/>
              <a:t> </a:t>
            </a:r>
            <a:r>
              <a:rPr lang="en-US" dirty="0" err="1" smtClean="0"/>
              <a:t>çünkü</a:t>
            </a:r>
            <a:r>
              <a:rPr lang="en-US" dirty="0" smtClean="0"/>
              <a:t> clustering unsupervised learning </a:t>
            </a:r>
            <a:r>
              <a:rPr lang="en-US" dirty="0" err="1" smtClean="0"/>
              <a:t>yöntemidir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içerisindeki</a:t>
            </a:r>
            <a:r>
              <a:rPr lang="en-US" dirty="0" smtClean="0"/>
              <a:t> </a:t>
            </a:r>
            <a:r>
              <a:rPr lang="en-US" dirty="0" err="1" smtClean="0"/>
              <a:t>doğal</a:t>
            </a:r>
            <a:r>
              <a:rPr lang="en-US" dirty="0" smtClean="0"/>
              <a:t> </a:t>
            </a:r>
            <a:r>
              <a:rPr lang="en-US" dirty="0" err="1" smtClean="0"/>
              <a:t>örüntülerin</a:t>
            </a:r>
            <a:r>
              <a:rPr lang="en-US" dirty="0" smtClean="0"/>
              <a:t> </a:t>
            </a:r>
            <a:r>
              <a:rPr lang="en-US" dirty="0" err="1" smtClean="0"/>
              <a:t>keşfedilmesi</a:t>
            </a:r>
            <a:r>
              <a:rPr lang="en-US" dirty="0" smtClean="0"/>
              <a:t> </a:t>
            </a:r>
            <a:r>
              <a:rPr lang="en-US" dirty="0" err="1" smtClean="0"/>
              <a:t>amaçlanmıştır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10906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573" y="1825625"/>
            <a:ext cx="8142854" cy="4351338"/>
          </a:xfrm>
        </p:spPr>
      </p:pic>
    </p:spTree>
    <p:extLst>
      <p:ext uri="{BB962C8B-B14F-4D97-AF65-F5344CB8AC3E}">
        <p14:creationId xmlns:p14="http://schemas.microsoft.com/office/powerpoint/2010/main" val="18861215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Küme</a:t>
            </a:r>
            <a:r>
              <a:rPr lang="en-US" dirty="0" smtClean="0"/>
              <a:t> </a:t>
            </a:r>
            <a:r>
              <a:rPr lang="en-US" dirty="0" err="1" smtClean="0"/>
              <a:t>Dağılımı</a:t>
            </a:r>
            <a:endParaRPr lang="en-US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2939" t="56182"/>
          <a:stretch/>
        </p:blipFill>
        <p:spPr>
          <a:xfrm>
            <a:off x="4792980" y="1386840"/>
            <a:ext cx="6560820" cy="3971807"/>
          </a:xfrm>
        </p:spPr>
      </p:pic>
      <p:sp>
        <p:nvSpPr>
          <p:cNvPr id="10" name="Rectangle 4"/>
          <p:cNvSpPr>
            <a:spLocks noChangeArrowheads="1"/>
          </p:cNvSpPr>
          <p:nvPr/>
        </p:nvSpPr>
        <p:spPr bwMode="auto">
          <a:xfrm>
            <a:off x="289560" y="420944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dağılımları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0 → 342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kişi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1 → 241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kişi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2 → 442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kişi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"/>
          <p:cNvSpPr>
            <a:spLocks noChangeArrowheads="1"/>
          </p:cNvSpPr>
          <p:nvPr/>
        </p:nvSpPr>
        <p:spPr bwMode="auto">
          <a:xfrm>
            <a:off x="287156" y="2348578"/>
            <a:ext cx="4404360" cy="6001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Sunarken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Oku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Veri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seti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3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farklı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kümeye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ayrılmıştır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Her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küme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farklı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özelliklere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sahip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bireyleri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temsil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05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etmektedir</a:t>
            </a:r>
            <a:r>
              <a:rPr kumimoji="0" lang="en-US" altLang="en-US" sz="105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84913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Cluster </a:t>
            </a:r>
            <a:r>
              <a:rPr lang="en-US" dirty="0" err="1" smtClean="0"/>
              <a:t>Merkezleri</a:t>
            </a:r>
            <a:endParaRPr lang="en-US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411480" y="3614103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Öne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çıkan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özellikler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exang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thalach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472440" y="1472972"/>
            <a:ext cx="5623560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Sunarken</a:t>
            </a:r>
            <a:r>
              <a:rPr kumimoji="0" lang="en-US" alt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Oku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Cluster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merkezleri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incelendiğinde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özellikle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exang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ve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thalach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özelliklerinin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kümeler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arasında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belirgin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farklılık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oluşturduğu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görülmektedir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Bu durum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bazı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özelliklerin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hastalık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ayrımında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daha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etkili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olduğunu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6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göstermektedir</a:t>
            </a:r>
            <a:r>
              <a:rPr kumimoji="0" lang="en-US" altLang="en-US" sz="16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7" name="Resim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61" t="39931" r="41315" b="491"/>
          <a:stretch/>
        </p:blipFill>
        <p:spPr>
          <a:xfrm>
            <a:off x="6355081" y="2326322"/>
            <a:ext cx="3672840" cy="303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6812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Classification </a:t>
            </a:r>
            <a:r>
              <a:rPr lang="en-US" dirty="0" err="1" smtClean="0"/>
              <a:t>Algoritmaları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Kullanılan</a:t>
            </a:r>
            <a:r>
              <a:rPr lang="en-US" dirty="0" smtClean="0"/>
              <a:t> </a:t>
            </a:r>
            <a:r>
              <a:rPr lang="en-US" dirty="0" err="1" smtClean="0"/>
              <a:t>algoritmalar</a:t>
            </a:r>
            <a:r>
              <a:rPr lang="en-US" dirty="0" smtClean="0"/>
              <a:t>:</a:t>
            </a:r>
          </a:p>
          <a:p>
            <a:r>
              <a:rPr lang="en-US" dirty="0" smtClean="0"/>
              <a:t>J48 Decision Tree </a:t>
            </a:r>
          </a:p>
          <a:p>
            <a:r>
              <a:rPr lang="en-US" dirty="0" smtClean="0"/>
              <a:t>Naive Bayes </a:t>
            </a:r>
          </a:p>
          <a:p>
            <a:r>
              <a:rPr lang="en-US" dirty="0" err="1" smtClean="0"/>
              <a:t>IBk</a:t>
            </a:r>
            <a:r>
              <a:rPr lang="en-US" dirty="0" smtClean="0"/>
              <a:t> (KNN) </a:t>
            </a:r>
          </a:p>
          <a:p>
            <a:r>
              <a:rPr lang="en-US" dirty="0" smtClean="0"/>
              <a:t>Test </a:t>
            </a:r>
            <a:r>
              <a:rPr lang="en-US" dirty="0" err="1" smtClean="0"/>
              <a:t>yöntemi</a:t>
            </a:r>
            <a:r>
              <a:rPr lang="en-US" dirty="0" smtClean="0"/>
              <a:t>:</a:t>
            </a:r>
          </a:p>
          <a:p>
            <a:r>
              <a:rPr lang="en-US" dirty="0" smtClean="0"/>
              <a:t>10-fold cross validation</a:t>
            </a:r>
          </a:p>
          <a:p>
            <a:r>
              <a:rPr lang="en-US" dirty="0" smtClean="0"/>
              <a:t>Classification </a:t>
            </a:r>
            <a:r>
              <a:rPr lang="en-US" dirty="0" err="1" smtClean="0"/>
              <a:t>aşamasında</a:t>
            </a:r>
            <a:r>
              <a:rPr lang="en-US" dirty="0" smtClean="0"/>
              <a:t> </a:t>
            </a:r>
            <a:r>
              <a:rPr lang="en-US" dirty="0" err="1" smtClean="0"/>
              <a:t>üç</a:t>
            </a:r>
            <a:r>
              <a:rPr lang="en-US" dirty="0" smtClean="0"/>
              <a:t> </a:t>
            </a:r>
            <a:r>
              <a:rPr lang="en-US" dirty="0" err="1" smtClean="0"/>
              <a:t>farklı</a:t>
            </a:r>
            <a:r>
              <a:rPr lang="en-US" dirty="0" smtClean="0"/>
              <a:t> </a:t>
            </a:r>
            <a:r>
              <a:rPr lang="en-US" dirty="0" err="1" smtClean="0"/>
              <a:t>algoritma</a:t>
            </a:r>
            <a:r>
              <a:rPr lang="en-US" dirty="0" smtClean="0"/>
              <a:t> </a:t>
            </a:r>
            <a:r>
              <a:rPr lang="en-US" dirty="0" err="1" smtClean="0"/>
              <a:t>kullanılmıştır</a:t>
            </a:r>
            <a:r>
              <a:rPr lang="en-US" dirty="0" smtClean="0"/>
              <a:t>. </a:t>
            </a:r>
            <a:r>
              <a:rPr lang="en-US" dirty="0" err="1" smtClean="0"/>
              <a:t>Modellerin</a:t>
            </a:r>
            <a:r>
              <a:rPr lang="en-US" dirty="0" smtClean="0"/>
              <a:t> </a:t>
            </a:r>
            <a:r>
              <a:rPr lang="en-US" dirty="0" err="1" smtClean="0"/>
              <a:t>performansı</a:t>
            </a:r>
            <a:r>
              <a:rPr lang="en-US" dirty="0" smtClean="0"/>
              <a:t> 10-fold cross validation </a:t>
            </a:r>
            <a:r>
              <a:rPr lang="en-US" dirty="0" err="1" smtClean="0"/>
              <a:t>yöntemi</a:t>
            </a:r>
            <a:r>
              <a:rPr lang="en-US" dirty="0" smtClean="0"/>
              <a:t> </a:t>
            </a:r>
            <a:r>
              <a:rPr lang="en-US" dirty="0" err="1" smtClean="0"/>
              <a:t>ile</a:t>
            </a:r>
            <a:r>
              <a:rPr lang="en-US" dirty="0" smtClean="0"/>
              <a:t> </a:t>
            </a:r>
            <a:r>
              <a:rPr lang="en-US" dirty="0" err="1" smtClean="0"/>
              <a:t>değerlendirilmiştir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9908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Model </a:t>
            </a:r>
            <a:r>
              <a:rPr lang="en-US" dirty="0" err="1" smtClean="0"/>
              <a:t>Performansları</a:t>
            </a:r>
            <a:endParaRPr lang="en-US" dirty="0"/>
          </a:p>
        </p:txBody>
      </p:sp>
      <p:graphicFrame>
        <p:nvGraphicFramePr>
          <p:cNvPr id="4" name="İçerik Yer Tutucus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906653"/>
              </p:ext>
            </p:extLst>
          </p:nvPr>
        </p:nvGraphicFramePr>
        <p:xfrm>
          <a:off x="998220" y="2820194"/>
          <a:ext cx="10515600" cy="14630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409761144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26841489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/>
                        <a:t>Algoritma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Accuracy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660321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J48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%98.04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1079521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Naive Bayes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%83.12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020479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/>
                        <a:t>IBk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%</a:t>
                      </a:r>
                      <a:r>
                        <a:rPr lang="en-US" dirty="0" smtClean="0"/>
                        <a:t>99.70</a:t>
                      </a:r>
                      <a:endParaRPr lang="tr-TR" dirty="0" smtClean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2238762"/>
                  </a:ext>
                </a:extLst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891540" y="188214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 başarılı model:</a:t>
            </a:r>
            <a:endParaRPr kumimoji="0" lang="en-US" altLang="en-US" sz="16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IBk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Metin kutusu 5"/>
          <p:cNvSpPr txBox="1"/>
          <p:nvPr/>
        </p:nvSpPr>
        <p:spPr>
          <a:xfrm>
            <a:off x="746761" y="4823460"/>
            <a:ext cx="64998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/>
              <a:t>Sonuçlara</a:t>
            </a:r>
            <a:r>
              <a:rPr lang="en-US" dirty="0" smtClean="0"/>
              <a:t> </a:t>
            </a:r>
            <a:r>
              <a:rPr lang="en-US" dirty="0" err="1" smtClean="0"/>
              <a:t>göre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yüksek</a:t>
            </a:r>
            <a:r>
              <a:rPr lang="en-US" dirty="0" smtClean="0"/>
              <a:t> </a:t>
            </a:r>
            <a:r>
              <a:rPr lang="en-US" dirty="0" err="1" smtClean="0"/>
              <a:t>doğruluk</a:t>
            </a:r>
            <a:r>
              <a:rPr lang="en-US" dirty="0" smtClean="0"/>
              <a:t> </a:t>
            </a:r>
            <a:r>
              <a:rPr lang="en-US" dirty="0" err="1" smtClean="0"/>
              <a:t>değeri</a:t>
            </a:r>
            <a:r>
              <a:rPr lang="en-US" dirty="0" smtClean="0"/>
              <a:t> </a:t>
            </a:r>
            <a:r>
              <a:rPr lang="en-US" dirty="0" err="1" smtClean="0"/>
              <a:t>IBk</a:t>
            </a:r>
            <a:r>
              <a:rPr lang="en-US" dirty="0" smtClean="0"/>
              <a:t> </a:t>
            </a:r>
            <a:r>
              <a:rPr lang="en-US" dirty="0" err="1" smtClean="0"/>
              <a:t>algoritmasında</a:t>
            </a:r>
            <a:r>
              <a:rPr lang="en-US" dirty="0" smtClean="0"/>
              <a:t> </a:t>
            </a:r>
            <a:r>
              <a:rPr lang="en-US" dirty="0" err="1" smtClean="0"/>
              <a:t>elde</a:t>
            </a:r>
            <a:r>
              <a:rPr lang="en-US" dirty="0" smtClean="0"/>
              <a:t> </a:t>
            </a:r>
            <a:r>
              <a:rPr lang="en-US" dirty="0" err="1" smtClean="0"/>
              <a:t>edilmiştir</a:t>
            </a:r>
            <a:r>
              <a:rPr lang="en-US" dirty="0" smtClean="0"/>
              <a:t>. Naive Bayes </a:t>
            </a:r>
            <a:r>
              <a:rPr lang="en-US" dirty="0" err="1" smtClean="0"/>
              <a:t>algoritması</a:t>
            </a:r>
            <a:r>
              <a:rPr lang="en-US" dirty="0" smtClean="0"/>
              <a:t> </a:t>
            </a:r>
            <a:r>
              <a:rPr lang="en-US" dirty="0" err="1" smtClean="0"/>
              <a:t>ise</a:t>
            </a:r>
            <a:r>
              <a:rPr lang="en-US" dirty="0" smtClean="0"/>
              <a:t> </a:t>
            </a:r>
            <a:r>
              <a:rPr lang="en-US" dirty="0" err="1" smtClean="0"/>
              <a:t>diğer</a:t>
            </a:r>
            <a:r>
              <a:rPr lang="en-US" dirty="0" smtClean="0"/>
              <a:t> </a:t>
            </a:r>
            <a:r>
              <a:rPr lang="en-US" dirty="0" err="1" smtClean="0"/>
              <a:t>modellere</a:t>
            </a:r>
            <a:r>
              <a:rPr lang="en-US" dirty="0" smtClean="0"/>
              <a:t> </a:t>
            </a:r>
            <a:r>
              <a:rPr lang="en-US" dirty="0" err="1" smtClean="0"/>
              <a:t>göre</a:t>
            </a:r>
            <a:r>
              <a:rPr lang="en-US" dirty="0" smtClean="0"/>
              <a:t> </a:t>
            </a:r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düşük</a:t>
            </a:r>
            <a:r>
              <a:rPr lang="en-US" dirty="0" smtClean="0"/>
              <a:t> </a:t>
            </a:r>
            <a:r>
              <a:rPr lang="en-US" dirty="0" err="1" smtClean="0"/>
              <a:t>performans</a:t>
            </a:r>
            <a:r>
              <a:rPr lang="en-US" dirty="0" smtClean="0"/>
              <a:t> </a:t>
            </a:r>
            <a:r>
              <a:rPr lang="en-US" dirty="0" err="1" smtClean="0"/>
              <a:t>göstermiştir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71846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J48 SONUÇLARI</a:t>
            </a:r>
            <a:endParaRPr lang="en-US" dirty="0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717" t="76950" r="63957"/>
          <a:stretch/>
        </p:blipFill>
        <p:spPr>
          <a:xfrm>
            <a:off x="7101839" y="2461261"/>
            <a:ext cx="4128351" cy="2504122"/>
          </a:xfrm>
        </p:spPr>
      </p:pic>
      <p:sp>
        <p:nvSpPr>
          <p:cNvPr id="5" name="Metin kutusu 4"/>
          <p:cNvSpPr txBox="1"/>
          <p:nvPr/>
        </p:nvSpPr>
        <p:spPr>
          <a:xfrm>
            <a:off x="1280161" y="2461261"/>
            <a:ext cx="443484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Accuracy:</a:t>
            </a:r>
          </a:p>
          <a:p>
            <a:r>
              <a:rPr lang="en-US" b="1" dirty="0" smtClean="0"/>
              <a:t>%98.04</a:t>
            </a:r>
          </a:p>
          <a:p>
            <a:r>
              <a:rPr lang="en-US" dirty="0" err="1" smtClean="0"/>
              <a:t>Önemli</a:t>
            </a:r>
            <a:r>
              <a:rPr lang="en-US" dirty="0" smtClean="0"/>
              <a:t> </a:t>
            </a:r>
            <a:r>
              <a:rPr lang="en-US" dirty="0" err="1" smtClean="0"/>
              <a:t>özellikler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cp</a:t>
            </a:r>
            <a:r>
              <a:rPr lang="en-US" dirty="0" smtClean="0"/>
              <a:t> </a:t>
            </a:r>
          </a:p>
          <a:p>
            <a:r>
              <a:rPr lang="en-US" dirty="0" smtClean="0"/>
              <a:t>ca </a:t>
            </a:r>
          </a:p>
          <a:p>
            <a:r>
              <a:rPr lang="en-US" dirty="0" err="1" smtClean="0"/>
              <a:t>thal</a:t>
            </a:r>
            <a:endParaRPr lang="en-US" dirty="0" smtClean="0"/>
          </a:p>
          <a:p>
            <a:r>
              <a:rPr lang="en-US" dirty="0" smtClean="0"/>
              <a:t>J48 </a:t>
            </a:r>
            <a:r>
              <a:rPr lang="en-US" dirty="0" err="1" smtClean="0"/>
              <a:t>algoritması</a:t>
            </a:r>
            <a:r>
              <a:rPr lang="en-US" dirty="0" smtClean="0"/>
              <a:t> </a:t>
            </a:r>
            <a:r>
              <a:rPr lang="en-US" dirty="0" err="1" smtClean="0"/>
              <a:t>oldukça</a:t>
            </a:r>
            <a:r>
              <a:rPr lang="en-US" dirty="0" smtClean="0"/>
              <a:t> </a:t>
            </a:r>
            <a:r>
              <a:rPr lang="en-US" dirty="0" err="1" smtClean="0"/>
              <a:t>başarılı</a:t>
            </a:r>
            <a:r>
              <a:rPr lang="en-US" dirty="0" smtClean="0"/>
              <a:t> </a:t>
            </a:r>
            <a:r>
              <a:rPr lang="en-US" dirty="0" err="1" smtClean="0"/>
              <a:t>sonuç</a:t>
            </a:r>
            <a:r>
              <a:rPr lang="en-US" dirty="0" smtClean="0"/>
              <a:t> </a:t>
            </a:r>
            <a:r>
              <a:rPr lang="en-US" dirty="0" err="1" smtClean="0"/>
              <a:t>vermiştir</a:t>
            </a:r>
            <a:r>
              <a:rPr lang="en-US" dirty="0" smtClean="0"/>
              <a:t>. </a:t>
            </a:r>
            <a:r>
              <a:rPr lang="en-US" dirty="0" err="1" smtClean="0"/>
              <a:t>Karar</a:t>
            </a:r>
            <a:r>
              <a:rPr lang="en-US" dirty="0" smtClean="0"/>
              <a:t> </a:t>
            </a:r>
            <a:r>
              <a:rPr lang="en-US" dirty="0" err="1" smtClean="0"/>
              <a:t>ağacında</a:t>
            </a:r>
            <a:r>
              <a:rPr lang="en-US" dirty="0" smtClean="0"/>
              <a:t> </a:t>
            </a:r>
            <a:r>
              <a:rPr lang="en-US" dirty="0" err="1" smtClean="0"/>
              <a:t>cp</a:t>
            </a:r>
            <a:r>
              <a:rPr lang="en-US" dirty="0" smtClean="0"/>
              <a:t>, ca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thal</a:t>
            </a:r>
            <a:r>
              <a:rPr lang="en-US" dirty="0" smtClean="0"/>
              <a:t> </a:t>
            </a:r>
            <a:r>
              <a:rPr lang="en-US" dirty="0" err="1" smtClean="0"/>
              <a:t>özelliklerinin</a:t>
            </a:r>
            <a:r>
              <a:rPr lang="en-US" dirty="0" smtClean="0"/>
              <a:t> </a:t>
            </a:r>
            <a:r>
              <a:rPr lang="en-US" dirty="0" err="1" smtClean="0"/>
              <a:t>önemli</a:t>
            </a:r>
            <a:r>
              <a:rPr lang="en-US" dirty="0" smtClean="0"/>
              <a:t> </a:t>
            </a:r>
            <a:r>
              <a:rPr lang="en-US" dirty="0" err="1" smtClean="0"/>
              <a:t>rol</a:t>
            </a:r>
            <a:r>
              <a:rPr lang="en-US" dirty="0" smtClean="0"/>
              <a:t> </a:t>
            </a:r>
            <a:r>
              <a:rPr lang="en-US" dirty="0" err="1" smtClean="0"/>
              <a:t>oynadığı</a:t>
            </a:r>
            <a:r>
              <a:rPr lang="en-US" dirty="0" smtClean="0"/>
              <a:t> </a:t>
            </a:r>
            <a:r>
              <a:rPr lang="en-US" dirty="0" err="1" smtClean="0"/>
              <a:t>görülmektedir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1097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Naive Bayes </a:t>
            </a:r>
            <a:r>
              <a:rPr lang="en-US" dirty="0" err="1" smtClean="0"/>
              <a:t>Sonuçları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Accuracy:</a:t>
            </a:r>
          </a:p>
          <a:p>
            <a:r>
              <a:rPr lang="en-US" b="1" dirty="0" smtClean="0"/>
              <a:t>%83.12</a:t>
            </a:r>
          </a:p>
          <a:p>
            <a:r>
              <a:rPr lang="en-US" dirty="0" err="1" smtClean="0"/>
              <a:t>Avantaj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Hızlı</a:t>
            </a:r>
            <a:r>
              <a:rPr lang="en-US" dirty="0" smtClean="0"/>
              <a:t> </a:t>
            </a:r>
            <a:r>
              <a:rPr lang="en-US" dirty="0" err="1" smtClean="0"/>
              <a:t>çalışır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Dezavantaj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Bağımsızlık</a:t>
            </a:r>
            <a:r>
              <a:rPr lang="en-US" dirty="0" smtClean="0"/>
              <a:t> </a:t>
            </a:r>
            <a:r>
              <a:rPr lang="en-US" dirty="0" err="1" smtClean="0"/>
              <a:t>varsayımı</a:t>
            </a:r>
            <a:r>
              <a:rPr lang="en-US" dirty="0" smtClean="0"/>
              <a:t> </a:t>
            </a:r>
          </a:p>
          <a:p>
            <a:r>
              <a:rPr lang="en-US" dirty="0" smtClean="0"/>
              <a:t>Naive Bayes </a:t>
            </a:r>
            <a:r>
              <a:rPr lang="en-US" dirty="0" err="1" smtClean="0"/>
              <a:t>algoritması</a:t>
            </a:r>
            <a:r>
              <a:rPr lang="en-US" dirty="0" smtClean="0"/>
              <a:t> </a:t>
            </a:r>
            <a:r>
              <a:rPr lang="en-US" dirty="0" err="1" smtClean="0"/>
              <a:t>hızlı</a:t>
            </a:r>
            <a:r>
              <a:rPr lang="en-US" dirty="0" smtClean="0"/>
              <a:t> </a:t>
            </a:r>
            <a:r>
              <a:rPr lang="en-US" dirty="0" err="1" smtClean="0"/>
              <a:t>çalışmasına</a:t>
            </a:r>
            <a:r>
              <a:rPr lang="en-US" dirty="0" smtClean="0"/>
              <a:t> </a:t>
            </a:r>
            <a:r>
              <a:rPr lang="en-US" dirty="0" err="1" smtClean="0"/>
              <a:t>rağmen</a:t>
            </a:r>
            <a:r>
              <a:rPr lang="en-US" dirty="0" smtClean="0"/>
              <a:t> </a:t>
            </a:r>
            <a:r>
              <a:rPr lang="en-US" dirty="0" err="1" smtClean="0"/>
              <a:t>bağımsızlık</a:t>
            </a:r>
            <a:r>
              <a:rPr lang="en-US" dirty="0" smtClean="0"/>
              <a:t> </a:t>
            </a:r>
            <a:r>
              <a:rPr lang="en-US" dirty="0" err="1" smtClean="0"/>
              <a:t>varsayımı</a:t>
            </a:r>
            <a:r>
              <a:rPr lang="en-US" dirty="0" smtClean="0"/>
              <a:t> </a:t>
            </a:r>
            <a:r>
              <a:rPr lang="en-US" dirty="0" err="1" smtClean="0"/>
              <a:t>nedeniyle</a:t>
            </a:r>
            <a:r>
              <a:rPr lang="en-US" dirty="0" smtClean="0"/>
              <a:t> </a:t>
            </a:r>
            <a:r>
              <a:rPr lang="en-US" dirty="0" err="1" smtClean="0"/>
              <a:t>diğer</a:t>
            </a:r>
            <a:r>
              <a:rPr lang="en-US" dirty="0" smtClean="0"/>
              <a:t> </a:t>
            </a:r>
            <a:r>
              <a:rPr lang="en-US" dirty="0" err="1" smtClean="0"/>
              <a:t>modellere</a:t>
            </a:r>
            <a:r>
              <a:rPr lang="en-US" dirty="0" smtClean="0"/>
              <a:t> </a:t>
            </a:r>
            <a:r>
              <a:rPr lang="en-US" dirty="0" err="1" smtClean="0"/>
              <a:t>göre</a:t>
            </a:r>
            <a:r>
              <a:rPr lang="en-US" dirty="0" smtClean="0"/>
              <a:t> </a:t>
            </a:r>
            <a:r>
              <a:rPr lang="en-US" dirty="0" err="1" smtClean="0"/>
              <a:t>daha</a:t>
            </a:r>
            <a:r>
              <a:rPr lang="en-US" dirty="0" smtClean="0"/>
              <a:t> </a:t>
            </a:r>
            <a:r>
              <a:rPr lang="en-US" dirty="0" err="1" smtClean="0"/>
              <a:t>düşük</a:t>
            </a:r>
            <a:r>
              <a:rPr lang="en-US" dirty="0" smtClean="0"/>
              <a:t> </a:t>
            </a:r>
            <a:r>
              <a:rPr lang="en-US" dirty="0" err="1" smtClean="0"/>
              <a:t>doğruluk</a:t>
            </a:r>
            <a:r>
              <a:rPr lang="en-US" dirty="0" smtClean="0"/>
              <a:t> </a:t>
            </a:r>
            <a:r>
              <a:rPr lang="en-US" dirty="0" err="1" smtClean="0"/>
              <a:t>değeri</a:t>
            </a:r>
            <a:r>
              <a:rPr lang="en-US" dirty="0" smtClean="0"/>
              <a:t> </a:t>
            </a:r>
            <a:r>
              <a:rPr lang="en-US" dirty="0" err="1" smtClean="0"/>
              <a:t>elde</a:t>
            </a:r>
            <a:r>
              <a:rPr lang="en-US" dirty="0" smtClean="0"/>
              <a:t> </a:t>
            </a:r>
            <a:r>
              <a:rPr lang="en-US" dirty="0" err="1" smtClean="0"/>
              <a:t>etmiştir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17" t="76577" r="68735" b="6393"/>
          <a:stretch/>
        </p:blipFill>
        <p:spPr>
          <a:xfrm>
            <a:off x="6370321" y="1690688"/>
            <a:ext cx="4427219" cy="2665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7784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IBk</a:t>
            </a:r>
            <a:r>
              <a:rPr lang="en-US" dirty="0" smtClean="0"/>
              <a:t> </a:t>
            </a:r>
            <a:r>
              <a:rPr lang="en-US" dirty="0" err="1" smtClean="0"/>
              <a:t>Sonuçları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Accuracy:</a:t>
            </a:r>
          </a:p>
          <a:p>
            <a:r>
              <a:rPr lang="en-US" b="1" dirty="0" smtClean="0"/>
              <a:t>%99.70</a:t>
            </a:r>
          </a:p>
          <a:p>
            <a:r>
              <a:rPr lang="en-US" dirty="0" err="1" smtClean="0"/>
              <a:t>Özellikleri</a:t>
            </a:r>
            <a:r>
              <a:rPr lang="en-US" dirty="0" smtClean="0"/>
              <a:t>:</a:t>
            </a:r>
          </a:p>
          <a:p>
            <a:r>
              <a:rPr lang="en-US" dirty="0" smtClean="0"/>
              <a:t>Distance-based </a:t>
            </a:r>
            <a:r>
              <a:rPr lang="en-US" dirty="0" err="1" smtClean="0"/>
              <a:t>çalışır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yakın</a:t>
            </a:r>
            <a:r>
              <a:rPr lang="en-US" dirty="0" smtClean="0"/>
              <a:t> </a:t>
            </a:r>
            <a:r>
              <a:rPr lang="en-US" dirty="0" err="1" smtClean="0"/>
              <a:t>komşuları</a:t>
            </a:r>
            <a:r>
              <a:rPr lang="en-US" dirty="0" smtClean="0"/>
              <a:t> </a:t>
            </a:r>
            <a:r>
              <a:rPr lang="en-US" dirty="0" err="1" smtClean="0"/>
              <a:t>kullanır</a:t>
            </a:r>
            <a:r>
              <a:rPr lang="en-US" dirty="0" smtClean="0"/>
              <a:t> </a:t>
            </a:r>
          </a:p>
          <a:p>
            <a:endParaRPr lang="tr-TR" dirty="0" smtClean="0"/>
          </a:p>
          <a:p>
            <a:r>
              <a:rPr lang="tr-TR" dirty="0" smtClean="0"/>
              <a:t>IB</a:t>
            </a:r>
            <a:r>
              <a:rPr lang="en-US" dirty="0" smtClean="0"/>
              <a:t>k </a:t>
            </a:r>
            <a:r>
              <a:rPr lang="en-US" dirty="0" err="1" smtClean="0"/>
              <a:t>algoritması</a:t>
            </a:r>
            <a:r>
              <a:rPr lang="en-US" dirty="0" smtClean="0"/>
              <a:t> </a:t>
            </a: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setine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iyi</a:t>
            </a:r>
            <a:r>
              <a:rPr lang="en-US" dirty="0" smtClean="0"/>
              <a:t> </a:t>
            </a:r>
            <a:r>
              <a:rPr lang="en-US" dirty="0" err="1" smtClean="0"/>
              <a:t>uyumu</a:t>
            </a:r>
            <a:r>
              <a:rPr lang="en-US" dirty="0" smtClean="0"/>
              <a:t> </a:t>
            </a:r>
            <a:r>
              <a:rPr lang="en-US" dirty="0" err="1" smtClean="0"/>
              <a:t>sağlamış</a:t>
            </a:r>
            <a:r>
              <a:rPr lang="en-US" dirty="0" smtClean="0"/>
              <a:t>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yüksek</a:t>
            </a:r>
            <a:r>
              <a:rPr lang="en-US" dirty="0" smtClean="0"/>
              <a:t> </a:t>
            </a:r>
            <a:r>
              <a:rPr lang="en-US" dirty="0" err="1" smtClean="0"/>
              <a:t>doğruluk</a:t>
            </a:r>
            <a:r>
              <a:rPr lang="en-US" dirty="0" smtClean="0"/>
              <a:t> </a:t>
            </a:r>
            <a:r>
              <a:rPr lang="en-US" dirty="0" err="1" smtClean="0"/>
              <a:t>değerine</a:t>
            </a:r>
            <a:r>
              <a:rPr lang="en-US" dirty="0" smtClean="0"/>
              <a:t> </a:t>
            </a:r>
            <a:r>
              <a:rPr lang="en-US" dirty="0" err="1" smtClean="0"/>
              <a:t>ulaşmıştır</a:t>
            </a:r>
            <a:r>
              <a:rPr lang="en-US" dirty="0" smtClean="0"/>
              <a:t>. </a:t>
            </a:r>
            <a:r>
              <a:rPr lang="en-US" dirty="0" err="1" smtClean="0"/>
              <a:t>Normalizasyon</a:t>
            </a:r>
            <a:r>
              <a:rPr lang="en-US" dirty="0" smtClean="0"/>
              <a:t> </a:t>
            </a:r>
            <a:r>
              <a:rPr lang="en-US" dirty="0" err="1" smtClean="0"/>
              <a:t>işlemi</a:t>
            </a:r>
            <a:r>
              <a:rPr lang="en-US" dirty="0" smtClean="0"/>
              <a:t> </a:t>
            </a:r>
            <a:r>
              <a:rPr lang="en-US" dirty="0" err="1" smtClean="0"/>
              <a:t>bu</a:t>
            </a:r>
            <a:r>
              <a:rPr lang="en-US" dirty="0" smtClean="0"/>
              <a:t> </a:t>
            </a:r>
            <a:r>
              <a:rPr lang="en-US" dirty="0" err="1" smtClean="0"/>
              <a:t>algoritmanın</a:t>
            </a:r>
            <a:r>
              <a:rPr lang="en-US" dirty="0" smtClean="0"/>
              <a:t> </a:t>
            </a:r>
            <a:r>
              <a:rPr lang="en-US" dirty="0" err="1" smtClean="0"/>
              <a:t>performansını</a:t>
            </a:r>
            <a:r>
              <a:rPr lang="en-US" dirty="0" smtClean="0"/>
              <a:t> </a:t>
            </a:r>
            <a:r>
              <a:rPr lang="en-US" dirty="0" err="1" smtClean="0"/>
              <a:t>olumlu</a:t>
            </a:r>
            <a:r>
              <a:rPr lang="en-US" dirty="0" smtClean="0"/>
              <a:t> </a:t>
            </a:r>
            <a:r>
              <a:rPr lang="en-US" dirty="0" err="1" smtClean="0"/>
              <a:t>etkilemiştir</a:t>
            </a:r>
            <a:r>
              <a:rPr lang="en-US" dirty="0" smtClean="0"/>
              <a:t>.</a:t>
            </a:r>
            <a:endParaRPr lang="en-US" dirty="0"/>
          </a:p>
        </p:txBody>
      </p:sp>
      <p:pic>
        <p:nvPicPr>
          <p:cNvPr id="6" name="Resim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88" t="77199" r="68297" b="6773"/>
          <a:stretch/>
        </p:blipFill>
        <p:spPr>
          <a:xfrm>
            <a:off x="6400800" y="1394460"/>
            <a:ext cx="5010744" cy="2758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5324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J48 Decision Tree</a:t>
            </a:r>
            <a:endParaRPr lang="en-US" dirty="0"/>
          </a:p>
        </p:txBody>
      </p:sp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Karar</a:t>
            </a:r>
            <a:r>
              <a:rPr lang="en-US" dirty="0" smtClean="0"/>
              <a:t> </a:t>
            </a:r>
            <a:r>
              <a:rPr lang="en-US" dirty="0" err="1" smtClean="0"/>
              <a:t>ağacında</a:t>
            </a:r>
            <a:r>
              <a:rPr lang="en-US" dirty="0" smtClean="0"/>
              <a:t> </a:t>
            </a:r>
            <a:r>
              <a:rPr lang="en-US" dirty="0" err="1" smtClean="0"/>
              <a:t>önemli</a:t>
            </a:r>
            <a:r>
              <a:rPr lang="en-US" dirty="0" smtClean="0"/>
              <a:t> </a:t>
            </a:r>
            <a:r>
              <a:rPr lang="en-US" dirty="0" err="1" smtClean="0"/>
              <a:t>değişkenler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cp</a:t>
            </a:r>
            <a:r>
              <a:rPr lang="en-US" dirty="0" smtClean="0"/>
              <a:t> </a:t>
            </a:r>
          </a:p>
          <a:p>
            <a:r>
              <a:rPr lang="en-US" dirty="0" smtClean="0"/>
              <a:t>ca </a:t>
            </a:r>
          </a:p>
          <a:p>
            <a:r>
              <a:rPr lang="en-US" dirty="0" err="1" smtClean="0"/>
              <a:t>thal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oldpeak</a:t>
            </a:r>
            <a:r>
              <a:rPr lang="en-US" dirty="0" smtClean="0"/>
              <a:t> </a:t>
            </a:r>
          </a:p>
          <a:p>
            <a:r>
              <a:rPr lang="tr-TR" dirty="0"/>
              <a:t>K</a:t>
            </a:r>
            <a:r>
              <a:rPr lang="en-US" dirty="0" err="1" smtClean="0"/>
              <a:t>arar</a:t>
            </a:r>
            <a:r>
              <a:rPr lang="en-US" dirty="0" smtClean="0"/>
              <a:t> </a:t>
            </a:r>
            <a:r>
              <a:rPr lang="en-US" dirty="0" err="1" smtClean="0"/>
              <a:t>ağacı</a:t>
            </a:r>
            <a:r>
              <a:rPr lang="en-US" dirty="0" smtClean="0"/>
              <a:t> </a:t>
            </a:r>
            <a:r>
              <a:rPr lang="en-US" dirty="0" err="1" smtClean="0"/>
              <a:t>incelendiğinde</a:t>
            </a:r>
            <a:r>
              <a:rPr lang="en-US" dirty="0" smtClean="0"/>
              <a:t> </a:t>
            </a:r>
            <a:r>
              <a:rPr lang="en-US" dirty="0" err="1" smtClean="0"/>
              <a:t>cp</a:t>
            </a:r>
            <a:r>
              <a:rPr lang="en-US" dirty="0" smtClean="0"/>
              <a:t>, ca </a:t>
            </a:r>
            <a:r>
              <a:rPr lang="en-US" dirty="0" err="1" smtClean="0"/>
              <a:t>ve</a:t>
            </a:r>
            <a:r>
              <a:rPr lang="en-US" dirty="0" smtClean="0"/>
              <a:t> </a:t>
            </a:r>
            <a:r>
              <a:rPr lang="en-US" dirty="0" err="1" smtClean="0"/>
              <a:t>thal</a:t>
            </a:r>
            <a:r>
              <a:rPr lang="en-US" dirty="0" smtClean="0"/>
              <a:t> </a:t>
            </a:r>
            <a:r>
              <a:rPr lang="en-US" dirty="0" err="1" smtClean="0"/>
              <a:t>değişkenlerinin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belirleyici</a:t>
            </a:r>
            <a:r>
              <a:rPr lang="en-US" dirty="0" smtClean="0"/>
              <a:t> </a:t>
            </a:r>
            <a:r>
              <a:rPr lang="en-US" dirty="0" err="1" smtClean="0"/>
              <a:t>faktörler</a:t>
            </a:r>
            <a:r>
              <a:rPr lang="en-US" dirty="0" smtClean="0"/>
              <a:t> </a:t>
            </a:r>
            <a:r>
              <a:rPr lang="en-US" dirty="0" err="1" smtClean="0"/>
              <a:t>olduğu</a:t>
            </a:r>
            <a:r>
              <a:rPr lang="en-US" dirty="0" smtClean="0"/>
              <a:t> </a:t>
            </a:r>
            <a:r>
              <a:rPr lang="en-US" dirty="0" err="1" smtClean="0"/>
              <a:t>görülmektedir</a:t>
            </a:r>
            <a:r>
              <a:rPr lang="en-US" dirty="0" smtClean="0"/>
              <a:t>. Bu </a:t>
            </a:r>
            <a:r>
              <a:rPr lang="en-US" dirty="0" err="1" smtClean="0"/>
              <a:t>özellikler</a:t>
            </a:r>
            <a:r>
              <a:rPr lang="en-US" dirty="0" smtClean="0"/>
              <a:t> </a:t>
            </a:r>
            <a:r>
              <a:rPr lang="en-US" dirty="0" err="1" smtClean="0"/>
              <a:t>hastalık</a:t>
            </a:r>
            <a:r>
              <a:rPr lang="en-US" dirty="0" smtClean="0"/>
              <a:t> </a:t>
            </a:r>
            <a:r>
              <a:rPr lang="en-US" dirty="0" err="1" smtClean="0"/>
              <a:t>tahmininde</a:t>
            </a:r>
            <a:r>
              <a:rPr lang="en-US" dirty="0" smtClean="0"/>
              <a:t> </a:t>
            </a:r>
            <a:r>
              <a:rPr lang="en-US" dirty="0" err="1" smtClean="0"/>
              <a:t>önemli</a:t>
            </a:r>
            <a:r>
              <a:rPr lang="en-US" dirty="0" smtClean="0"/>
              <a:t> </a:t>
            </a:r>
            <a:r>
              <a:rPr lang="en-US" dirty="0" err="1" smtClean="0"/>
              <a:t>rol</a:t>
            </a:r>
            <a:r>
              <a:rPr lang="en-US" dirty="0" smtClean="0"/>
              <a:t> </a:t>
            </a:r>
            <a:r>
              <a:rPr lang="en-US" dirty="0" err="1" smtClean="0"/>
              <a:t>oynamaktadır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5585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221" y="812165"/>
            <a:ext cx="10323799" cy="5314315"/>
          </a:xfrm>
        </p:spPr>
      </p:pic>
    </p:spTree>
    <p:extLst>
      <p:ext uri="{BB962C8B-B14F-4D97-AF65-F5344CB8AC3E}">
        <p14:creationId xmlns:p14="http://schemas.microsoft.com/office/powerpoint/2010/main" val="24622821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934" y="1825625"/>
            <a:ext cx="8130131" cy="4351338"/>
          </a:xfrm>
        </p:spPr>
      </p:pic>
    </p:spTree>
    <p:extLst>
      <p:ext uri="{BB962C8B-B14F-4D97-AF65-F5344CB8AC3E}">
        <p14:creationId xmlns:p14="http://schemas.microsoft.com/office/powerpoint/2010/main" val="38053255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İçerik Yer Tutucus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24573" y="1825625"/>
            <a:ext cx="8142854" cy="4351338"/>
          </a:xfrm>
        </p:spPr>
      </p:pic>
    </p:spTree>
    <p:extLst>
      <p:ext uri="{BB962C8B-B14F-4D97-AF65-F5344CB8AC3E}">
        <p14:creationId xmlns:p14="http://schemas.microsoft.com/office/powerpoint/2010/main" val="3382983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Unvan 1"/>
          <p:cNvSpPr>
            <a:spLocks noGrp="1"/>
          </p:cNvSpPr>
          <p:nvPr>
            <p:ph type="title"/>
          </p:nvPr>
        </p:nvSpPr>
        <p:spPr>
          <a:xfrm>
            <a:off x="670560" y="252920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Sonuç</a:t>
            </a:r>
            <a:br>
              <a:rPr lang="en-US" b="1" dirty="0" smtClean="0"/>
            </a:br>
            <a:r>
              <a:rPr lang="en-US" dirty="0" smtClean="0"/>
              <a:t>Clustering </a:t>
            </a:r>
            <a:r>
              <a:rPr lang="en-US" dirty="0" err="1" smtClean="0"/>
              <a:t>uygulanmıştır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smtClean="0"/>
              <a:t>Classification </a:t>
            </a:r>
            <a:r>
              <a:rPr lang="en-US" dirty="0" err="1" smtClean="0"/>
              <a:t>algoritmaları</a:t>
            </a:r>
            <a:r>
              <a:rPr lang="en-US" dirty="0" smtClean="0"/>
              <a:t> </a:t>
            </a:r>
            <a:r>
              <a:rPr lang="en-US" dirty="0" err="1" smtClean="0"/>
              <a:t>karşılaştırılmıştır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başarılı</a:t>
            </a:r>
            <a:r>
              <a:rPr lang="en-US" dirty="0" smtClean="0"/>
              <a:t> model </a:t>
            </a:r>
            <a:r>
              <a:rPr lang="en-US" dirty="0" err="1" smtClean="0"/>
              <a:t>IBk</a:t>
            </a:r>
            <a:r>
              <a:rPr lang="en-US" dirty="0" smtClean="0"/>
              <a:t> </a:t>
            </a:r>
            <a:r>
              <a:rPr lang="en-US" dirty="0" err="1" smtClean="0"/>
              <a:t>olmuştur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setindeki</a:t>
            </a:r>
            <a:r>
              <a:rPr lang="en-US" dirty="0" smtClean="0"/>
              <a:t> </a:t>
            </a:r>
            <a:r>
              <a:rPr lang="en-US" dirty="0" err="1" smtClean="0"/>
              <a:t>önemli</a:t>
            </a:r>
            <a:r>
              <a:rPr lang="en-US" dirty="0" smtClean="0"/>
              <a:t> </a:t>
            </a:r>
            <a:r>
              <a:rPr lang="en-US" dirty="0" err="1" smtClean="0"/>
              <a:t>özellikler</a:t>
            </a:r>
            <a:r>
              <a:rPr lang="en-US" dirty="0" smtClean="0"/>
              <a:t> </a:t>
            </a:r>
            <a:r>
              <a:rPr lang="en-US" dirty="0" err="1" smtClean="0"/>
              <a:t>belirlenmiştir</a:t>
            </a:r>
            <a:r>
              <a:rPr lang="en-US" dirty="0" smtClean="0"/>
              <a:t> </a:t>
            </a:r>
            <a:br>
              <a:rPr lang="en-US" dirty="0" smtClean="0"/>
            </a:br>
            <a:r>
              <a:rPr lang="en-US" dirty="0" err="1" smtClean="0"/>
              <a:t>Genel</a:t>
            </a:r>
            <a:r>
              <a:rPr lang="en-US" dirty="0" smtClean="0"/>
              <a:t> Sonuç:</a:t>
            </a:r>
            <a:br>
              <a:rPr lang="en-US" dirty="0" smtClean="0"/>
            </a:br>
            <a:r>
              <a:rPr lang="en-US" dirty="0" err="1" smtClean="0"/>
              <a:t>Veri</a:t>
            </a:r>
            <a:r>
              <a:rPr lang="en-US" dirty="0" smtClean="0"/>
              <a:t> </a:t>
            </a:r>
            <a:r>
              <a:rPr lang="en-US" dirty="0" err="1" smtClean="0"/>
              <a:t>madenciliği</a:t>
            </a:r>
            <a:r>
              <a:rPr lang="en-US" dirty="0" smtClean="0"/>
              <a:t> </a:t>
            </a:r>
            <a:r>
              <a:rPr lang="en-US" dirty="0" err="1" smtClean="0"/>
              <a:t>yöntemleri</a:t>
            </a:r>
            <a:r>
              <a:rPr lang="en-US" dirty="0" smtClean="0"/>
              <a:t> </a:t>
            </a:r>
            <a:r>
              <a:rPr lang="en-US" dirty="0" err="1" smtClean="0"/>
              <a:t>başarılı</a:t>
            </a:r>
            <a:r>
              <a:rPr lang="en-US" dirty="0" smtClean="0"/>
              <a:t> </a:t>
            </a:r>
            <a:r>
              <a:rPr lang="en-US" dirty="0" err="1" smtClean="0"/>
              <a:t>sonuç</a:t>
            </a:r>
            <a:r>
              <a:rPr lang="en-US" dirty="0" smtClean="0"/>
              <a:t> </a:t>
            </a:r>
            <a:r>
              <a:rPr lang="en-US" dirty="0" err="1" smtClean="0"/>
              <a:t>vermiştir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848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İçerik Yer Tutucus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Sonuç olarak clustering ve classification yöntemleri birlikte kullanılarak başarılı bir veri madenciliği analizi gerçekleştirilmiştir. Özellikle IBk algoritması veri setinde en yüksek performansı göstermiştir.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9396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574</Words>
  <Application>Microsoft Office PowerPoint</Application>
  <PresentationFormat>Geniş ekran</PresentationFormat>
  <Paragraphs>129</Paragraphs>
  <Slides>21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3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21</vt:i4>
      </vt:variant>
    </vt:vector>
  </HeadingPairs>
  <TitlesOfParts>
    <vt:vector size="25" baseType="lpstr">
      <vt:lpstr>Arial</vt:lpstr>
      <vt:lpstr>Calibri</vt:lpstr>
      <vt:lpstr>Calibri Light</vt:lpstr>
      <vt:lpstr>Office Teması</vt:lpstr>
      <vt:lpstr>Heart Disease Dataset Üzerinde Clustering ve Classification Analizi Veri Madenciliği Final Projesi </vt:lpstr>
      <vt:lpstr>Projenin Amacı</vt:lpstr>
      <vt:lpstr>DATASET</vt:lpstr>
      <vt:lpstr>ATTRIBUTE AÇIKLAMALARI</vt:lpstr>
      <vt:lpstr>PREPROCESSING Veri Ön İşleme</vt:lpstr>
      <vt:lpstr>PowerPoint Sunusu</vt:lpstr>
      <vt:lpstr>K-Means Clustering</vt:lpstr>
      <vt:lpstr>PowerPoint Sunusu</vt:lpstr>
      <vt:lpstr>Küme Dağılımı</vt:lpstr>
      <vt:lpstr>Cluster Merkezleri</vt:lpstr>
      <vt:lpstr>Classification Algoritmaları</vt:lpstr>
      <vt:lpstr>Model Performansları</vt:lpstr>
      <vt:lpstr>J48 SONUÇLARI</vt:lpstr>
      <vt:lpstr>Naive Bayes Sonuçları</vt:lpstr>
      <vt:lpstr>IBk Sonuçları</vt:lpstr>
      <vt:lpstr>J48 Decision Tree</vt:lpstr>
      <vt:lpstr>PowerPoint Sunusu</vt:lpstr>
      <vt:lpstr>PowerPoint Sunusu</vt:lpstr>
      <vt:lpstr>PowerPoint Sunusu</vt:lpstr>
      <vt:lpstr>Sonuç Clustering uygulanmıştır  Classification algoritmaları karşılaştırılmıştır  En başarılı model IBk olmuştur  Veri setindeki önemli özellikler belirlenmiştir  Genel Sonuç: Veri madenciliği yöntemleri başarılı sonuç vermiştir 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Heart Disease Dataset Üzerinde Clustering ve Classification Analizi Veri Madenciliği Final Projesi</dc:title>
  <dc:creator>memet</dc:creator>
  <cp:lastModifiedBy>memet</cp:lastModifiedBy>
  <cp:revision>3</cp:revision>
  <dcterms:created xsi:type="dcterms:W3CDTF">2026-05-20T19:30:09Z</dcterms:created>
  <dcterms:modified xsi:type="dcterms:W3CDTF">2026-05-20T19:45:57Z</dcterms:modified>
</cp:coreProperties>
</file>